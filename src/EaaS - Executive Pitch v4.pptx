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48B"/>
          </a:solidFill>
          <a:ln w="12700">
            <a:solidFill>
              <a:srgbClr val="003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737360" cy="237744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EVOLUTION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EaaS: The Natural Extension of EEMS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replacement. The policy layer EEMS was always missing.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16736"/>
            <a:ext cx="8321040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2651760" cy="3273552"/>
          </a:xfrm>
          <a:prstGeom prst="rect">
            <a:avLst/>
          </a:prstGeom>
          <a:solidFill>
            <a:srgbClr val="EBF3FF"/>
          </a:solidFill>
          <a:ln w="19050">
            <a:solidFill>
              <a:srgbClr val="0057B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64008" cy="327355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36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EEMS — Foundation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1828800"/>
            <a:ext cx="2377440" cy="0"/>
          </a:xfrm>
          <a:prstGeom prst="line">
            <a:avLst/>
          </a:prstGeom>
          <a:noFill/>
          <a:ln w="6350">
            <a:solidFill>
              <a:srgbClr val="0057B8"/>
            </a:solidFill>
            <a:prstDash val="dot"/>
          </a:ln>
        </p:spPr>
      </p:sp>
      <p:sp>
        <p:nvSpPr>
          <p:cNvPr id="12" name="Shape 10"/>
          <p:cNvSpPr/>
          <p:nvPr/>
        </p:nvSpPr>
        <p:spPr>
          <a:xfrm>
            <a:off x="3108960" y="1417320"/>
            <a:ext cx="2743200" cy="3273552"/>
          </a:xfrm>
          <a:prstGeom prst="rect">
            <a:avLst/>
          </a:prstGeom>
          <a:solidFill>
            <a:srgbClr val="FFF4E5"/>
          </a:solidFill>
          <a:ln w="19050">
            <a:solidFill>
              <a:srgbClr val="C96A0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417320"/>
            <a:ext cx="64008" cy="3273552"/>
          </a:xfrm>
          <a:prstGeom prst="rect">
            <a:avLst/>
          </a:prstGeom>
          <a:solidFill>
            <a:srgbClr val="C96A00"/>
          </a:solidFill>
          <a:ln w="12700">
            <a:solidFill>
              <a:srgbClr val="C96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Policies — Limitations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64408" y="1828800"/>
            <a:ext cx="2468880" cy="0"/>
          </a:xfrm>
          <a:prstGeom prst="line">
            <a:avLst/>
          </a:prstGeom>
          <a:noFill/>
          <a:ln w="6350">
            <a:solidFill>
              <a:srgbClr val="C96A00"/>
            </a:solidFill>
            <a:prstDash val="dot"/>
          </a:ln>
        </p:spPr>
      </p:sp>
      <p:sp>
        <p:nvSpPr>
          <p:cNvPr id="16" name="Shape 14"/>
          <p:cNvSpPr/>
          <p:nvPr/>
        </p:nvSpPr>
        <p:spPr>
          <a:xfrm>
            <a:off x="5989320" y="1417320"/>
            <a:ext cx="2834640" cy="3273552"/>
          </a:xfrm>
          <a:prstGeom prst="rect">
            <a:avLst/>
          </a:prstGeom>
          <a:solidFill>
            <a:srgbClr val="E6F6F8"/>
          </a:solidFill>
          <a:ln w="19050">
            <a:solidFill>
              <a:srgbClr val="007B8F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417320"/>
            <a:ext cx="64008" cy="3273552"/>
          </a:xfrm>
          <a:prstGeom prst="rect">
            <a:avLst/>
          </a:prstGeom>
          <a:solidFill>
            <a:srgbClr val="007B8F"/>
          </a:solidFill>
          <a:ln w="12700">
            <a:solidFill>
              <a:srgbClr val="007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5361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 — Codified Controls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4768" y="1828800"/>
            <a:ext cx="2560320" cy="0"/>
          </a:xfrm>
          <a:prstGeom prst="line">
            <a:avLst/>
          </a:prstGeom>
          <a:noFill/>
          <a:ln w="6350">
            <a:solidFill>
              <a:srgbClr val="007B8F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475488" y="1920240"/>
            <a:ext cx="2377440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entitlement profiles &amp; personas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GIAM, COIN, LMS integrations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ABAC / PBAC access model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across all lines of business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iLead mandate — common entitlement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194767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38728" y="19476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supported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247802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38728" y="24780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testing or evaluation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46120" y="30083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38728" y="30083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express complex SoD rules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46120" y="353872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38728" y="35387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express frequency / geography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46120" y="406908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38728" y="40690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cannot author controls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44768" y="1920240"/>
            <a:ext cx="2560320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author &amp; validate policies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testing and evaluation built-in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payment BRs expressible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SoD, frequency &amp; geography rules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decisions at scale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4736592"/>
            <a:ext cx="9144000" cy="201168"/>
          </a:xfrm>
          <a:prstGeom prst="rect">
            <a:avLst/>
          </a:prstGeom>
          <a:solidFill>
            <a:srgbClr val="EBF3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EEMS remains the entitlement platform.  EaaS adds the policy engine — same system, stronger controls.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 Program  ·  Citi  ·  March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48B"/>
          </a:solidFill>
          <a:ln w="12700">
            <a:solidFill>
              <a:srgbClr val="003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828800" cy="237744"/>
          </a:xfrm>
          <a:prstGeom prst="rect">
            <a:avLst/>
          </a:prstGeom>
          <a:solidFill>
            <a:srgbClr val="C96A00"/>
          </a:solidFill>
          <a:ln w="12700">
            <a:solidFill>
              <a:srgbClr val="C96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Choose the Policy Engine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 are on the table. Before we evaluate, here is the rubric we will apply.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07592"/>
            <a:ext cx="8321040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89888"/>
            <a:ext cx="1920240" cy="274320"/>
          </a:xfrm>
          <a:prstGeom prst="rect">
            <a:avLst/>
          </a:prstGeom>
          <a:solidFill>
            <a:srgbClr val="EBF3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EEMS JSON Rules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1389888"/>
            <a:ext cx="1920240" cy="274320"/>
          </a:xfrm>
          <a:prstGeom prst="rect">
            <a:avLst/>
          </a:prstGeom>
          <a:solidFill>
            <a:srgbClr val="EBF3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/ REGO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389888"/>
            <a:ext cx="1920240" cy="274320"/>
          </a:xfrm>
          <a:prstGeom prst="rect">
            <a:avLst/>
          </a:prstGeom>
          <a:solidFill>
            <a:srgbClr val="EBF3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/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389888"/>
            <a:ext cx="1920240" cy="274320"/>
          </a:xfrm>
          <a:prstGeom prst="rect">
            <a:avLst/>
          </a:prstGeom>
          <a:solidFill>
            <a:srgbClr val="EBF3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1737360"/>
            <a:ext cx="8321040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28800"/>
            <a:ext cx="416052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938528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2376" y="186537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" y="205740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approval flows require sub-100ms responses. Real-time, synchronous SLA — not negotiable.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450592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" y="2377440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" y="256946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controls must be fully predictable. Identical inputs must always produce identical outcomes.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52928"/>
            <a:ext cx="416052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62656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" y="2889504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Expressiveness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" y="308152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cover all 14 payment control BRs: SoD graph, frequency limits, jurisdiction, accreditation gates.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828800"/>
            <a:ext cx="42062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938528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0056" y="186537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 Authoring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0056" y="205740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compliance / business teams author and validate policies without engineering involvement?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450592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0056" y="237744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 Trail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0056" y="2569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authorization decision logged: policy version, inputs, output, timestamp. Regulator-ready.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852928"/>
            <a:ext cx="4206240" cy="475488"/>
          </a:xfrm>
          <a:prstGeom prst="rect">
            <a:avLst/>
          </a:prstGeom>
          <a:solidFill>
            <a:srgbClr val="F4F7FD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962656"/>
            <a:ext cx="237744" cy="237744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0056" y="288950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&amp; TCO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0056" y="308152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independence, proprietary format risk, and per-decision cost at Citi's transaction volumes.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26280" y="1828800"/>
            <a:ext cx="0" cy="1499616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3410712"/>
            <a:ext cx="9144000" cy="237744"/>
          </a:xfrm>
          <a:prstGeom prst="rect">
            <a:avLst/>
          </a:prstGeom>
          <a:solidFill>
            <a:srgbClr val="EBF3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10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evaluate all four options against this rubric and return with a recommendation.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 Program  ·  Citi  ·  March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48B"/>
          </a:solidFill>
          <a:ln w="12700">
            <a:solidFill>
              <a:srgbClr val="003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011680" cy="237744"/>
          </a:xfrm>
          <a:prstGeom prst="rect">
            <a:avLst/>
          </a:prstGeom>
          <a:solidFill>
            <a:srgbClr val="007B8F"/>
          </a:solidFill>
          <a:ln w="12700">
            <a:solidFill>
              <a:srgbClr val="007B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EaaS: Built for Payments.  Ready for AI.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engine we build for payments today can govern AI agents when the firm builds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16736"/>
            <a:ext cx="8321040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3931920" cy="3200400"/>
          </a:xfrm>
          <a:prstGeom prst="rect">
            <a:avLst/>
          </a:prstGeom>
          <a:solidFill>
            <a:srgbClr val="EBF3FF"/>
          </a:solidFill>
          <a:ln w="19050">
            <a:solidFill>
              <a:srgbClr val="0057B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64008" cy="320040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17320"/>
            <a:ext cx="3931920" cy="34747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Payment Entitlements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1208" y="19202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entitlement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71016" y="2057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53896" y="19202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53896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03704" y="2057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86584" y="19202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36392" y="20574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19272" y="19202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Deny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audit log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2724912"/>
            <a:ext cx="365760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inputs → same decision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&lt;100ms per authorization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every decision logged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Policy-governed: versioned, testable controls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417320"/>
            <a:ext cx="3977640" cy="3200400"/>
          </a:xfrm>
          <a:prstGeom prst="rect">
            <a:avLst/>
          </a:prstGeom>
          <a:solidFill>
            <a:srgbClr val="E6F6F8"/>
          </a:solidFill>
          <a:ln w="19050">
            <a:solidFill>
              <a:srgbClr val="007B8F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417320"/>
            <a:ext cx="64008" cy="3200400"/>
          </a:xfrm>
          <a:prstGeom prst="rect">
            <a:avLst/>
          </a:prstGeom>
          <a:solidFill>
            <a:srgbClr val="007B8F"/>
          </a:solidFill>
          <a:ln w="12700">
            <a:solidFill>
              <a:srgbClr val="007B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417320"/>
            <a:ext cx="3977640" cy="347472"/>
          </a:xfrm>
          <a:prstGeom prst="rect">
            <a:avLst/>
          </a:prstGeom>
          <a:solidFill>
            <a:srgbClr val="007B8F"/>
          </a:solidFill>
          <a:ln w="12700">
            <a:solidFill>
              <a:srgbClr val="007B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173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AI / Agentic Workflows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firm deploys AI agents: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0348" y="2167128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B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0348" y="2167128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for human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20156" y="230428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03036" y="2167128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B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3036" y="2167128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action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firm systems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52844" y="230428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35724" y="2167128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B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5724" y="2167128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85532" y="2304288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868412" y="2167128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B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8412" y="2167128"/>
            <a:ext cx="731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Deny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audit trail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0" y="2971800"/>
            <a:ext cx="36576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agent acting on behalf of?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can it approve — and up to what limit?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 answers in real time. Same policy. Same audit trail.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infrastructure. The engine already exists.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736592"/>
            <a:ext cx="9144000" cy="201168"/>
          </a:xfrm>
          <a:prstGeom prst="rect">
            <a:avLst/>
          </a:prstGeom>
          <a:solidFill>
            <a:srgbClr val="E6F6F8"/>
          </a:solidFill>
          <a:ln w="12700">
            <a:solidFill>
              <a:srgbClr val="007B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engine.  Payments today.  AI agents tomorrow.  The investment compounds.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EaaS Program  ·  Citi  ·  March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EaaS Executive Pitch v4</dc:title>
  <dc:subject>PptxGenJS Presentation</dc:subject>
  <dc:creator>PptxGenJS</dc:creator>
  <cp:lastModifiedBy>PptxGenJS</cp:lastModifiedBy>
  <cp:revision>1</cp:revision>
  <dcterms:created xsi:type="dcterms:W3CDTF">2026-03-24T03:48:07Z</dcterms:created>
  <dcterms:modified xsi:type="dcterms:W3CDTF">2026-03-24T03:48:07Z</dcterms:modified>
</cp:coreProperties>
</file>